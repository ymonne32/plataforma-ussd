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32BA-0AE0-49BE-BA0B-A4D586862B90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291FBE7-E79C-498D-95E9-4B32D95A400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25534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32BA-0AE0-49BE-BA0B-A4D586862B90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1FBE7-E79C-498D-95E9-4B32D95A400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64823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32BA-0AE0-49BE-BA0B-A4D586862B90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291FBE7-E79C-498D-95E9-4B32D95A400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95948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32BA-0AE0-49BE-BA0B-A4D586862B90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291FBE7-E79C-498D-95E9-4B32D95A400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7501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32BA-0AE0-49BE-BA0B-A4D586862B90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291FBE7-E79C-498D-95E9-4B32D95A400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71601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32BA-0AE0-49BE-BA0B-A4D586862B90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1FBE7-E79C-498D-95E9-4B32D95A400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1293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32BA-0AE0-49BE-BA0B-A4D586862B90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1FBE7-E79C-498D-95E9-4B32D95A400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20508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32BA-0AE0-49BE-BA0B-A4D586862B90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1FBE7-E79C-498D-95E9-4B32D95A400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17325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32BA-0AE0-49BE-BA0B-A4D586862B90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291FBE7-E79C-498D-95E9-4B32D95A400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90356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32BA-0AE0-49BE-BA0B-A4D586862B90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291FBE7-E79C-498D-95E9-4B32D95A400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77947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32BA-0AE0-49BE-BA0B-A4D586862B90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291FBE7-E79C-498D-95E9-4B32D95A4003}" type="slidenum">
              <a:rPr lang="es-PE" smtClean="0"/>
              <a:t>‹Nº›</a:t>
            </a:fld>
            <a:endParaRPr lang="es-PE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845765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32BA-0AE0-49BE-BA0B-A4D586862B90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291FBE7-E79C-498D-95E9-4B32D95A400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524867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32BA-0AE0-49BE-BA0B-A4D586862B90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291FBE7-E79C-498D-95E9-4B32D95A4003}" type="slidenum">
              <a:rPr lang="es-PE" smtClean="0"/>
              <a:t>‹Nº›</a:t>
            </a:fld>
            <a:endParaRPr lang="es-PE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286155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32BA-0AE0-49BE-BA0B-A4D586862B90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291FBE7-E79C-498D-95E9-4B32D95A400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511804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32BA-0AE0-49BE-BA0B-A4D586862B90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1FBE7-E79C-498D-95E9-4B32D95A400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497214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32BA-0AE0-49BE-BA0B-A4D586862B90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1FBE7-E79C-498D-95E9-4B32D95A400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66816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EF32BA-0AE0-49BE-BA0B-A4D586862B90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291FBE7-E79C-498D-95E9-4B32D95A400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76050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F2CC19-4AD3-E737-D8EA-9FF7C36A8C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/>
              <a:t>Aseguramiento de Calidad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D941301-805D-8F96-EDC6-2CB17F65FB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s-PE" dirty="0"/>
              <a:t>Plataforma USSD (</a:t>
            </a:r>
            <a:r>
              <a:rPr lang="es-PE" dirty="0" err="1"/>
              <a:t>gRPC</a:t>
            </a:r>
            <a:r>
              <a:rPr lang="es-PE" dirty="0"/>
              <a:t>) - Reto </a:t>
            </a:r>
            <a:r>
              <a:rPr lang="es-PE" dirty="0" err="1"/>
              <a:t>Hakom</a:t>
            </a:r>
            <a:r>
              <a:rPr lang="es-PE" dirty="0"/>
              <a:t>
Karate + Java | Junio 2026</a:t>
            </a:r>
          </a:p>
          <a:p>
            <a:r>
              <a:rPr lang="es-PE" dirty="0"/>
              <a:t>Yamileidy Monne Clemente</a:t>
            </a:r>
          </a:p>
        </p:txBody>
      </p:sp>
    </p:spTree>
    <p:extLst>
      <p:ext uri="{BB962C8B-B14F-4D97-AF65-F5344CB8AC3E}">
        <p14:creationId xmlns:p14="http://schemas.microsoft.com/office/powerpoint/2010/main" val="725301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3AA66F-728C-96C4-3C12-7D3025F15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/>
              <a:t>Agenda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9A1D5F-5D25-CF80-0454-95DC02C1D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Contexto de negocio: canal USSD</a:t>
            </a:r>
          </a:p>
          <a:p>
            <a:r>
              <a:rPr lang="es-ES" dirty="0"/>
              <a:t>Objetivo del reto y alcance</a:t>
            </a:r>
          </a:p>
          <a:p>
            <a:r>
              <a:rPr lang="es-ES" dirty="0"/>
              <a:t>Estrategia y </a:t>
            </a:r>
            <a:r>
              <a:rPr lang="es-ES" dirty="0" err="1"/>
              <a:t>framework</a:t>
            </a:r>
            <a:r>
              <a:rPr lang="es-ES" dirty="0"/>
              <a:t> (Karate + </a:t>
            </a:r>
            <a:r>
              <a:rPr lang="es-ES" dirty="0" err="1"/>
              <a:t>gRPC</a:t>
            </a:r>
            <a:r>
              <a:rPr lang="es-ES" dirty="0"/>
              <a:t>)</a:t>
            </a:r>
          </a:p>
          <a:p>
            <a:r>
              <a:rPr lang="es-ES" dirty="0"/>
              <a:t>Arquitectura de la suite de pruebas</a:t>
            </a:r>
          </a:p>
          <a:p>
            <a:r>
              <a:rPr lang="es-ES" dirty="0"/>
              <a:t>Reglas críticas: sesiones </a:t>
            </a:r>
            <a:r>
              <a:rPr lang="es-ES" dirty="0" err="1"/>
              <a:t>stateful</a:t>
            </a:r>
            <a:endParaRPr lang="es-ES" dirty="0"/>
          </a:p>
          <a:p>
            <a:r>
              <a:rPr lang="es-ES" dirty="0"/>
              <a:t>Resultados, riesgos y semáforo</a:t>
            </a:r>
          </a:p>
          <a:p>
            <a:r>
              <a:rPr lang="es-ES" dirty="0"/>
              <a:t>Escalabilidad y próximos pasos</a:t>
            </a:r>
          </a:p>
          <a:p>
            <a:r>
              <a:rPr lang="es-ES" dirty="0"/>
              <a:t>Demo y entregables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36411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CAA19D-7DC8-F081-2E94-4EB230923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es USSD y por qué importa?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257EB9-87AA-34AE-A227-0CD98099D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Canal *999#: menú en el celular sin app</a:t>
            </a:r>
          </a:p>
          <a:p>
            <a:r>
              <a:rPr lang="es-ES" dirty="0"/>
              <a:t>Alto volumen: saldo, recargas, movimientos</a:t>
            </a:r>
          </a:p>
          <a:p>
            <a:r>
              <a:rPr lang="es-ES" dirty="0"/>
              <a:t>Un fallo impacta reputación del operador</a:t>
            </a:r>
          </a:p>
          <a:p>
            <a:r>
              <a:rPr lang="es-ES" dirty="0"/>
              <a:t>Recarga (opción 2) impacta ingresos</a:t>
            </a:r>
          </a:p>
          <a:p>
            <a:r>
              <a:rPr lang="es-ES" dirty="0"/>
              <a:t>Integración interna vía </a:t>
            </a:r>
            <a:r>
              <a:rPr lang="es-ES" dirty="0" err="1"/>
              <a:t>gRPC</a:t>
            </a:r>
            <a:r>
              <a:rPr lang="es-ES" dirty="0"/>
              <a:t> (</a:t>
            </a:r>
            <a:r>
              <a:rPr lang="es-ES" dirty="0" err="1"/>
              <a:t>UssdCmd</a:t>
            </a:r>
            <a:r>
              <a:rPr lang="es-ES" dirty="0"/>
              <a:t>)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730733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0493C1-85AF-EF12-B99B-6B256E0C3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/>
              <a:t>Objetivo del reto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F71996-2EB3-CF91-3471-1A702CDCA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/>
              <a:t>Validar flujo de navegación del menú USSD</a:t>
            </a:r>
          </a:p>
          <a:p>
            <a:r>
              <a:rPr lang="es-PE" dirty="0"/>
              <a:t>Asegurar integridad de sesiones </a:t>
            </a:r>
            <a:r>
              <a:rPr lang="es-PE" dirty="0" err="1"/>
              <a:t>stateful</a:t>
            </a:r>
            <a:endParaRPr lang="es-PE" dirty="0"/>
          </a:p>
          <a:p>
            <a:r>
              <a:rPr lang="es-PE" dirty="0"/>
              <a:t>Cumplir reglas: </a:t>
            </a:r>
            <a:r>
              <a:rPr lang="es-PE" dirty="0" err="1"/>
              <a:t>sessionId</a:t>
            </a:r>
            <a:r>
              <a:rPr lang="es-PE" dirty="0"/>
              <a:t>, </a:t>
            </a:r>
            <a:r>
              <a:rPr lang="es-PE" dirty="0" err="1"/>
              <a:t>msisdn</a:t>
            </a:r>
            <a:r>
              <a:rPr lang="es-PE" dirty="0"/>
              <a:t>, campos fijos</a:t>
            </a:r>
          </a:p>
          <a:p>
            <a:r>
              <a:rPr lang="es-PE" dirty="0"/>
              <a:t>Entregar estrategia QA + automatización + reporte CEO</a:t>
            </a:r>
          </a:p>
          <a:p>
            <a:r>
              <a:rPr lang="es-PE" dirty="0"/>
              <a:t>Servidor: 181.224.248.52:9898 - </a:t>
            </a:r>
            <a:r>
              <a:rPr lang="es-PE" dirty="0" err="1"/>
              <a:t>UssdCmd</a:t>
            </a:r>
            <a:r>
              <a:rPr lang="es-PE" dirty="0"/>
              <a:t>/</a:t>
            </a:r>
            <a:r>
              <a:rPr lang="es-PE" dirty="0" err="1"/>
              <a:t>UssdCmd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85210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5D10E-8DEB-EF47-9499-3B7DD2CA8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/>
              <a:t>Framework: Java + Karate + gRPC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E1ACF2-FBA7-F1EC-2A66-39377A3A6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/>
              <a:t>Java 17 + Maven: estándar </a:t>
            </a:r>
            <a:r>
              <a:rPr lang="es-PE" dirty="0" err="1"/>
              <a:t>enterprise</a:t>
            </a:r>
            <a:r>
              <a:rPr lang="es-PE" dirty="0"/>
              <a:t> y CI/CD</a:t>
            </a:r>
          </a:p>
          <a:p>
            <a:r>
              <a:rPr lang="es-PE" dirty="0"/>
              <a:t>Karate 1.5: </a:t>
            </a:r>
            <a:r>
              <a:rPr lang="es-PE" dirty="0" err="1"/>
              <a:t>features</a:t>
            </a:r>
            <a:r>
              <a:rPr lang="es-PE" dirty="0"/>
              <a:t> legibles, reportes HTML</a:t>
            </a:r>
          </a:p>
          <a:p>
            <a:r>
              <a:rPr lang="es-PE" dirty="0" err="1"/>
              <a:t>grpc</a:t>
            </a:r>
            <a:r>
              <a:rPr lang="es-PE" dirty="0"/>
              <a:t>-java + </a:t>
            </a:r>
            <a:r>
              <a:rPr lang="es-PE" dirty="0" err="1"/>
              <a:t>UssdGrpcClient</a:t>
            </a:r>
            <a:r>
              <a:rPr lang="es-PE" dirty="0"/>
              <a:t>: contrato </a:t>
            </a:r>
            <a:r>
              <a:rPr lang="es-PE" dirty="0" err="1"/>
              <a:t>Protobuf</a:t>
            </a:r>
            <a:endParaRPr lang="es-PE" dirty="0"/>
          </a:p>
          <a:p>
            <a:r>
              <a:rPr lang="es-PE" dirty="0"/>
              <a:t>Postman: exploración manual</a:t>
            </a:r>
          </a:p>
          <a:p>
            <a:r>
              <a:rPr lang="es-PE" dirty="0" err="1"/>
              <a:t>JMeter</a:t>
            </a:r>
            <a:r>
              <a:rPr lang="es-PE" dirty="0"/>
              <a:t>: recomendado fase 2 para carga</a:t>
            </a:r>
          </a:p>
        </p:txBody>
      </p:sp>
    </p:spTree>
    <p:extLst>
      <p:ext uri="{BB962C8B-B14F-4D97-AF65-F5344CB8AC3E}">
        <p14:creationId xmlns:p14="http://schemas.microsoft.com/office/powerpoint/2010/main" val="4163262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C32586-28CA-B430-D620-2871ABF7B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/>
              <a:t>Piramide de pruebas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2C0AFF-390B-2687-21EC-37D5D86CB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Nivel 1 - Contrato (sin red): </a:t>
            </a:r>
            <a:r>
              <a:rPr lang="es-ES" dirty="0" err="1"/>
              <a:t>payloads</a:t>
            </a:r>
            <a:r>
              <a:rPr lang="es-ES" dirty="0"/>
              <a:t> inicial y posterior</a:t>
            </a:r>
          </a:p>
          <a:p>
            <a:r>
              <a:rPr lang="es-ES" dirty="0"/>
              <a:t>Nivel 2 - Integración: </a:t>
            </a:r>
            <a:r>
              <a:rPr lang="es-ES" dirty="0" err="1"/>
              <a:t>smoke</a:t>
            </a:r>
            <a:r>
              <a:rPr lang="es-ES" dirty="0"/>
              <a:t> + opciones 1 a 4</a:t>
            </a:r>
          </a:p>
          <a:p>
            <a:r>
              <a:rPr lang="es-ES" dirty="0"/>
              <a:t>Nivel 3 - E2E: Happy Path completo</a:t>
            </a:r>
          </a:p>
          <a:p>
            <a:r>
              <a:rPr lang="es-ES" dirty="0"/>
              <a:t>Validar contrato y sesión antes de exploración masiva</a:t>
            </a:r>
          </a:p>
          <a:p>
            <a:r>
              <a:rPr lang="es-ES" dirty="0"/>
              <a:t>CI: contrato en cada </a:t>
            </a:r>
            <a:r>
              <a:rPr lang="es-ES" dirty="0" err="1"/>
              <a:t>build</a:t>
            </a:r>
            <a:r>
              <a:rPr lang="es-ES" dirty="0"/>
              <a:t>; integración si ambiente UP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576188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74FD4C-B385-9404-E002-800BB660B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Flujo del usuario (Happy Path)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915ACC-F857-5626-A24E-59CBF17D0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1. Marca *999# - menú principal (llamada inicial)</a:t>
            </a:r>
          </a:p>
          <a:p>
            <a:r>
              <a:rPr lang="es-ES" dirty="0"/>
              <a:t>2. Opción 1: Consultar saldo</a:t>
            </a:r>
          </a:p>
          <a:p>
            <a:r>
              <a:rPr lang="es-ES" dirty="0"/>
              <a:t>3. Opción 2: Recargar (monto)</a:t>
            </a:r>
          </a:p>
          <a:p>
            <a:r>
              <a:rPr lang="es-ES" dirty="0"/>
              <a:t>4. Opción 3: Estado de cuenta</a:t>
            </a:r>
          </a:p>
          <a:p>
            <a:r>
              <a:rPr lang="es-ES" dirty="0"/>
              <a:t>5. Opción 4: Salir</a:t>
            </a:r>
          </a:p>
          <a:p>
            <a:r>
              <a:rPr lang="es-ES" dirty="0"/>
              <a:t>Cada paso reutiliza el mismo </a:t>
            </a:r>
            <a:r>
              <a:rPr lang="es-ES" dirty="0" err="1"/>
              <a:t>sessionId</a:t>
            </a:r>
            <a:r>
              <a:rPr lang="es-ES" dirty="0"/>
              <a:t> y </a:t>
            </a:r>
            <a:r>
              <a:rPr lang="es-ES" dirty="0" err="1"/>
              <a:t>msisdn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787612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B480BD-D73A-4C5A-5E1C-BF0F6E5DF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/>
              <a:t>Reglas: llamada inicial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E26A34-88D4-CAD8-71E6-8709C14E7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/>
              <a:t>Solo se modifican: msisdn y ussdString (*999#)</a:t>
            </a:r>
          </a:p>
          <a:p>
            <a:r>
              <a:rPr lang="es-PE"/>
              <a:t>Operacion: USSD_SERVICE_PROCESS_UNSTRUCTURED_SS_REQUEST</a:t>
            </a:r>
          </a:p>
          <a:p>
            <a:r>
              <a:rPr lang="es-PE"/>
              <a:t>Respuesta devuelve sessionId (guardarlo)</a:t>
            </a:r>
          </a:p>
          <a:p>
            <a:r>
              <a:rPr lang="es-PE"/>
              <a:t>Feature: 01-inicio-sesion + 00-contracto-payload</a:t>
            </a:r>
          </a:p>
        </p:txBody>
      </p:sp>
    </p:spTree>
    <p:extLst>
      <p:ext uri="{BB962C8B-B14F-4D97-AF65-F5344CB8AC3E}">
        <p14:creationId xmlns:p14="http://schemas.microsoft.com/office/powerpoint/2010/main" val="1356208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F35365-F41E-B95B-29DC-76151D7F9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/>
              <a:t>Reglas: llamadas posteriores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9B6C20-4E88-0347-1FF5-D26B4F808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/>
              <a:t>Solo cambia ussdString (input del usuario)</a:t>
            </a:r>
          </a:p>
          <a:p>
            <a:r>
              <a:rPr lang="es-PE"/>
              <a:t>sessionId = el de la primera respuesta</a:t>
            </a:r>
          </a:p>
          <a:p>
            <a:r>
              <a:rPr lang="es-PE"/>
              <a:t>msisdn no puede cambiar en la sesion</a:t>
            </a:r>
          </a:p>
          <a:p>
            <a:r>
              <a:rPr lang="es-PE"/>
              <a:t>gwTransId, ussdGwId, ussdCoreId, type: fijos</a:t>
            </a:r>
          </a:p>
          <a:p>
            <a:r>
              <a:rPr lang="es-PE"/>
              <a:t>Feature: 06-reglas-sesion + features 02-05</a:t>
            </a:r>
          </a:p>
        </p:txBody>
      </p:sp>
    </p:spTree>
    <p:extLst>
      <p:ext uri="{BB962C8B-B14F-4D97-AF65-F5344CB8AC3E}">
        <p14:creationId xmlns:p14="http://schemas.microsoft.com/office/powerpoint/2010/main" val="4266828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A82F66-477E-00A8-C13E-F90FDDC9F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Integridad de sesion (riesgo 1)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E56B6D-9037-12B9-3154-6A4B55692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*999# genera sessionId = ABC</a:t>
            </a:r>
          </a:p>
          <a:p>
            <a:r>
              <a:rPr lang="es-ES"/>
              <a:t>Usuario pulsa 1 - debe seguir ABC</a:t>
            </a:r>
          </a:p>
          <a:p>
            <a:r>
              <a:rPr lang="es-ES"/>
              <a:t>Si sessionId cambia: menu roto</a:t>
            </a:r>
          </a:p>
          <a:p>
            <a:r>
              <a:rPr lang="es-ES"/>
              <a:t>Control QA: assert sessionId en cada respuesta</a:t>
            </a:r>
          </a:p>
          <a:p>
            <a:r>
              <a:rPr lang="es-ES"/>
              <a:t>Impacto: abandono y perdida de recargas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33323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056001-41F4-CD92-5284-7CA9EB62D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/>
              <a:t>MSISDN inmutable (riesgo 2)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EF44E2-AC54-59FC-F5A6-FD578C78C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MSISDN = número de teléfono del cliente</a:t>
            </a:r>
          </a:p>
          <a:p>
            <a:r>
              <a:rPr lang="es-ES" dirty="0"/>
              <a:t>Si cambia en mitad de sesión: datos de otro usuario</a:t>
            </a:r>
          </a:p>
          <a:p>
            <a:r>
              <a:rPr lang="es-ES" dirty="0"/>
              <a:t>Impacto muy alto: regulación y reputación</a:t>
            </a:r>
          </a:p>
          <a:p>
            <a:r>
              <a:rPr lang="es-ES" dirty="0"/>
              <a:t>Control QA: validación en todos los flujos </a:t>
            </a:r>
            <a:r>
              <a:rPr lang="es-ES" dirty="0" err="1"/>
              <a:t>grpc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433715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FF15D7-66C5-94F3-D833-CDF665B22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/>
              <a:t>Suite de pruebas automatizada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FE553C-ED92-FF22-A769-A37102934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/>
              <a:t>00-smoke-conexion - menú principal</a:t>
            </a:r>
          </a:p>
          <a:p>
            <a:r>
              <a:rPr lang="es-PE" dirty="0"/>
              <a:t>01-inicio-sesion - </a:t>
            </a:r>
            <a:r>
              <a:rPr lang="es-PE" dirty="0" err="1"/>
              <a:t>sessionId</a:t>
            </a:r>
            <a:endParaRPr lang="es-PE" dirty="0"/>
          </a:p>
          <a:p>
            <a:r>
              <a:rPr lang="es-PE" dirty="0"/>
              <a:t>02 a 05 - opciones menú 1-4</a:t>
            </a:r>
          </a:p>
          <a:p>
            <a:r>
              <a:rPr lang="es-PE" dirty="0"/>
              <a:t>06-reglas-sesion - contrato </a:t>
            </a:r>
            <a:r>
              <a:rPr lang="es-PE" dirty="0" err="1"/>
              <a:t>stateful</a:t>
            </a:r>
            <a:endParaRPr lang="es-PE" dirty="0"/>
          </a:p>
          <a:p>
            <a:r>
              <a:rPr lang="es-PE" dirty="0"/>
              <a:t>07-flujo-completo - E2E</a:t>
            </a:r>
          </a:p>
          <a:p>
            <a:r>
              <a:rPr lang="es-PE" dirty="0"/>
              <a:t>00-contracto-payload - 2 escenarios sin red</a:t>
            </a:r>
          </a:p>
          <a:p>
            <a:r>
              <a:rPr lang="es-PE" dirty="0"/>
              <a:t>Total: 12 escenarios en 9 </a:t>
            </a:r>
            <a:r>
              <a:rPr lang="es-PE" dirty="0" err="1"/>
              <a:t>features</a:t>
            </a:r>
            <a:r>
              <a:rPr lang="es-PE" dirty="0"/>
              <a:t> Karate</a:t>
            </a:r>
          </a:p>
        </p:txBody>
      </p:sp>
    </p:spTree>
    <p:extLst>
      <p:ext uri="{BB962C8B-B14F-4D97-AF65-F5344CB8AC3E}">
        <p14:creationId xmlns:p14="http://schemas.microsoft.com/office/powerpoint/2010/main" val="3432885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4D056A-41A3-B777-0F8F-E006BAAC5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Métricas y traducción a negocio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99D84D-DC6D-D1C4-CDC5-58EC0AF34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Contrato: 2 de 2 OK - formato de mensajes correcto</a:t>
            </a:r>
          </a:p>
          <a:p>
            <a:r>
              <a:rPr lang="es-ES" dirty="0"/>
              <a:t>Integración: 10 escenarios listos (requiere red)</a:t>
            </a:r>
          </a:p>
          <a:p>
            <a:r>
              <a:rPr lang="es-ES" dirty="0"/>
              <a:t>Regresión estimada: menos de 3 minutos</a:t>
            </a:r>
          </a:p>
          <a:p>
            <a:r>
              <a:rPr lang="es-ES" dirty="0"/>
              <a:t>Reporte HTML: target/karate-</a:t>
            </a:r>
            <a:r>
              <a:rPr lang="es-ES" dirty="0" err="1"/>
              <a:t>reports</a:t>
            </a:r>
            <a:r>
              <a:rPr lang="es-ES" dirty="0"/>
              <a:t>/karate-summary.html</a:t>
            </a:r>
          </a:p>
          <a:p>
            <a:r>
              <a:rPr lang="es-ES" dirty="0"/>
              <a:t>Bloqueo: puerto 9898 no accesible sin VPN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197934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357A7F-45A7-ACE8-E975-312587C1C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Semáforo de calidad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941A5C-DE2D-B5E3-3252-6AD882A58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VERDE: diseño de pruebas y reglas de sesión</a:t>
            </a:r>
          </a:p>
          <a:p>
            <a:r>
              <a:rPr lang="es-ES" dirty="0"/>
              <a:t>VERDE: automatización Happy Path + 4 opciones</a:t>
            </a:r>
          </a:p>
          <a:p>
            <a:r>
              <a:rPr lang="es-ES" dirty="0"/>
              <a:t>AMBAR: ejecución contra simulador (VPN/red)</a:t>
            </a:r>
          </a:p>
          <a:p>
            <a:r>
              <a:rPr lang="es-ES" dirty="0"/>
              <a:t>AMBAR: pruebas negativas de seguridad (fase 2)</a:t>
            </a:r>
          </a:p>
          <a:p>
            <a:r>
              <a:rPr lang="es-ES" dirty="0"/>
              <a:t>PENDIENTE: pruebas de estrés / escala (fase 2)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851192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E49D41-12EC-0D52-F45A-253B0D112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/>
              <a:t>Hallazgos principales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589DEF-B56E-E01E-577B-1563FBC75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/>
              <a:t>H1 - Suite alineada al documento técnico</a:t>
            </a:r>
          </a:p>
          <a:p>
            <a:r>
              <a:rPr lang="es-PE" dirty="0"/>
              <a:t>H2 - Contrato validado sin red (2/2 OK)</a:t>
            </a:r>
          </a:p>
          <a:p>
            <a:r>
              <a:rPr lang="es-PE" dirty="0"/>
              <a:t>H3 - Integración bloqueada por acceso al servidor</a:t>
            </a:r>
          </a:p>
          <a:p>
            <a:r>
              <a:rPr lang="es-PE" dirty="0"/>
              <a:t>H4 - Reportes Karate listos para auditoria</a:t>
            </a:r>
          </a:p>
          <a:p>
            <a:r>
              <a:rPr lang="es-PE" dirty="0"/>
              <a:t>Conclusión: herramienta lista; certificar ambiente</a:t>
            </a:r>
          </a:p>
        </p:txBody>
      </p:sp>
    </p:spTree>
    <p:extLst>
      <p:ext uri="{BB962C8B-B14F-4D97-AF65-F5344CB8AC3E}">
        <p14:creationId xmlns:p14="http://schemas.microsoft.com/office/powerpoint/2010/main" val="2262644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CE419A-E56A-A6FB-DCF0-8AB488230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/>
              <a:t>Recomendaciones priorizadas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FA624B8-21A3-B5CF-6EBD-12FFA9D6F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/>
              <a:t>P0 - Habilitar VPN o </a:t>
            </a:r>
            <a:r>
              <a:rPr lang="es-PE" dirty="0" err="1"/>
              <a:t>whitelist</a:t>
            </a:r>
            <a:r>
              <a:rPr lang="es-PE" dirty="0"/>
              <a:t> IP al simulador</a:t>
            </a:r>
          </a:p>
          <a:p>
            <a:r>
              <a:rPr lang="es-PE" dirty="0"/>
              <a:t>P0 - Ejecutar: </a:t>
            </a:r>
            <a:r>
              <a:rPr lang="es-PE" dirty="0" err="1"/>
              <a:t>mvn</a:t>
            </a:r>
            <a:r>
              <a:rPr lang="es-PE" dirty="0"/>
              <a:t> test -</a:t>
            </a:r>
            <a:r>
              <a:rPr lang="es-PE" dirty="0" err="1"/>
              <a:t>Dtest</a:t>
            </a:r>
            <a:r>
              <a:rPr lang="es-PE" dirty="0"/>
              <a:t>=</a:t>
            </a:r>
            <a:r>
              <a:rPr lang="es-PE" dirty="0" err="1"/>
              <a:t>UssdTestRunner</a:t>
            </a:r>
            <a:endParaRPr lang="es-PE" dirty="0"/>
          </a:p>
          <a:p>
            <a:r>
              <a:rPr lang="es-PE" dirty="0"/>
              <a:t>P1 - Pipeline CI: contrato + integración </a:t>
            </a:r>
            <a:r>
              <a:rPr lang="es-PE" dirty="0" err="1"/>
              <a:t>nightly</a:t>
            </a:r>
            <a:endParaRPr lang="es-PE" dirty="0"/>
          </a:p>
          <a:p>
            <a:r>
              <a:rPr lang="es-PE" dirty="0"/>
              <a:t>P1 - Pruebas negativas (</a:t>
            </a:r>
            <a:r>
              <a:rPr lang="es-PE" dirty="0" err="1"/>
              <a:t>sessionId</a:t>
            </a:r>
            <a:r>
              <a:rPr lang="es-PE" dirty="0"/>
              <a:t> inválido)</a:t>
            </a:r>
          </a:p>
          <a:p>
            <a:r>
              <a:rPr lang="es-PE" dirty="0"/>
              <a:t>P2 - Carga </a:t>
            </a:r>
            <a:r>
              <a:rPr lang="es-PE" dirty="0" err="1"/>
              <a:t>JMeter</a:t>
            </a:r>
            <a:r>
              <a:rPr lang="es-PE" dirty="0"/>
              <a:t> + monitoreo sintético *999#</a:t>
            </a:r>
          </a:p>
        </p:txBody>
      </p:sp>
    </p:spTree>
    <p:extLst>
      <p:ext uri="{BB962C8B-B14F-4D97-AF65-F5344CB8AC3E}">
        <p14:creationId xmlns:p14="http://schemas.microsoft.com/office/powerpoint/2010/main" val="6943272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DDE5A5-1A7A-0626-6AE0-67CA57270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Como asegurar que el servicio escale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7F4C250-329E-1150-047B-792FBE3D2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Hoy: regresión funcional automática </a:t>
            </a:r>
            <a:r>
              <a:rPr lang="es-ES" dirty="0" err="1"/>
              <a:t>pre-release</a:t>
            </a:r>
            <a:endParaRPr lang="es-ES" dirty="0"/>
          </a:p>
          <a:p>
            <a:r>
              <a:rPr lang="es-ES" dirty="0"/>
              <a:t>Fase 2: sesiones concurrentes, latencia p95</a:t>
            </a:r>
          </a:p>
          <a:p>
            <a:r>
              <a:rPr lang="es-ES" dirty="0" err="1"/>
              <a:t>Produccion</a:t>
            </a:r>
            <a:r>
              <a:rPr lang="es-ES" dirty="0"/>
              <a:t>: robot *999# cada 5 minutos</a:t>
            </a:r>
          </a:p>
          <a:p>
            <a:r>
              <a:rPr lang="es-ES" dirty="0"/>
              <a:t>Arquitectura: TTL de </a:t>
            </a:r>
            <a:r>
              <a:rPr lang="es-ES" dirty="0" err="1"/>
              <a:t>sessionId</a:t>
            </a:r>
            <a:r>
              <a:rPr lang="es-ES" dirty="0"/>
              <a:t>, límites por MSISDN</a:t>
            </a:r>
          </a:p>
          <a:p>
            <a:r>
              <a:rPr lang="es-ES" dirty="0"/>
              <a:t>Funcional + carga + monitoreo = defensa en profundidad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21078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9B3C2-5894-0D23-8452-FEB33990E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/>
              <a:t>Como ejecutar la suite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15813A-D543-E321-DC72-2FDA9D673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/>
              <a:t>Sin red: </a:t>
            </a:r>
            <a:r>
              <a:rPr lang="es-PE" dirty="0" err="1"/>
              <a:t>mvn</a:t>
            </a:r>
            <a:r>
              <a:rPr lang="es-PE" dirty="0"/>
              <a:t> test -</a:t>
            </a:r>
            <a:r>
              <a:rPr lang="es-PE" dirty="0" err="1"/>
              <a:t>Poffline</a:t>
            </a:r>
            <a:endParaRPr lang="es-PE" dirty="0"/>
          </a:p>
          <a:p>
            <a:r>
              <a:rPr lang="es-PE" dirty="0"/>
              <a:t>Con VPN: </a:t>
            </a:r>
            <a:r>
              <a:rPr lang="es-PE" dirty="0" err="1"/>
              <a:t>mvn</a:t>
            </a:r>
            <a:r>
              <a:rPr lang="es-PE" dirty="0"/>
              <a:t> test -</a:t>
            </a:r>
            <a:r>
              <a:rPr lang="es-PE" dirty="0" err="1"/>
              <a:t>Dtest</a:t>
            </a:r>
            <a:r>
              <a:rPr lang="es-PE" dirty="0"/>
              <a:t>=</a:t>
            </a:r>
            <a:r>
              <a:rPr lang="es-PE" dirty="0" err="1"/>
              <a:t>UssdTestRunner</a:t>
            </a:r>
            <a:endParaRPr lang="es-PE" dirty="0"/>
          </a:p>
          <a:p>
            <a:r>
              <a:rPr lang="es-PE" dirty="0"/>
              <a:t>Red: Test-</a:t>
            </a:r>
            <a:r>
              <a:rPr lang="es-PE" dirty="0" err="1"/>
              <a:t>NetConnection</a:t>
            </a:r>
            <a:r>
              <a:rPr lang="es-PE" dirty="0"/>
              <a:t> 181.224.248.52 -Port 9898</a:t>
            </a:r>
          </a:p>
          <a:p>
            <a:r>
              <a:rPr lang="es-PE" dirty="0" err="1"/>
              <a:t>Docs</a:t>
            </a:r>
            <a:r>
              <a:rPr lang="es-PE" dirty="0"/>
              <a:t>: docs/REPORTE_EJECUTIVO_CEO.md</a:t>
            </a:r>
          </a:p>
          <a:p>
            <a:r>
              <a:rPr lang="es-PE" dirty="0"/>
              <a:t>Repo: </a:t>
            </a:r>
            <a:r>
              <a:rPr lang="es-PE" dirty="0" err="1"/>
              <a:t>RetoQA</a:t>
            </a:r>
            <a:r>
              <a:rPr lang="es-PE" dirty="0"/>
              <a:t> (GitHub/</a:t>
            </a:r>
            <a:r>
              <a:rPr lang="es-PE" dirty="0" err="1"/>
              <a:t>GitLab</a:t>
            </a:r>
            <a:r>
              <a:rPr lang="es-PE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537123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2F7B0C-6CE3-B593-527C-B25741B06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/>
              <a:t>Entregables del reto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76725C-70A6-C3FA-CB62-879285A99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/>
              <a:t>Repositorio: código + </a:t>
            </a:r>
            <a:r>
              <a:rPr lang="es-PE" dirty="0" err="1"/>
              <a:t>features</a:t>
            </a:r>
            <a:r>
              <a:rPr lang="es-PE" dirty="0"/>
              <a:t> Karate + proto</a:t>
            </a:r>
          </a:p>
          <a:p>
            <a:r>
              <a:rPr lang="es-PE" dirty="0"/>
              <a:t>ESTRATEGIA_QA.md - estrategia profesional</a:t>
            </a:r>
          </a:p>
          <a:p>
            <a:r>
              <a:rPr lang="es-PE" dirty="0"/>
              <a:t>REPORTE_EJECUTIVO_CEO.md - visión dirección</a:t>
            </a:r>
          </a:p>
          <a:p>
            <a:r>
              <a:rPr lang="es-PE" dirty="0"/>
              <a:t>GUIA_PRESENTACION.md - </a:t>
            </a:r>
            <a:r>
              <a:rPr lang="es-PE" dirty="0" err="1"/>
              <a:t>guión</a:t>
            </a:r>
            <a:r>
              <a:rPr lang="es-PE" dirty="0"/>
              <a:t> de presentación</a:t>
            </a:r>
          </a:p>
          <a:p>
            <a:r>
              <a:rPr lang="es-PE" dirty="0"/>
              <a:t>PPT + reportes HTML de evidencia</a:t>
            </a:r>
          </a:p>
        </p:txBody>
      </p:sp>
    </p:spTree>
    <p:extLst>
      <p:ext uri="{BB962C8B-B14F-4D97-AF65-F5344CB8AC3E}">
        <p14:creationId xmlns:p14="http://schemas.microsoft.com/office/powerpoint/2010/main" val="14119791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2BC89E-872F-0CE3-E0CA-A86B36A159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/>
              <a:t>Gracias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541336-F2D2-3C59-DEC8-62A7BEDD8F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Próximo paso: habilitar ambiente y certificar integración </a:t>
            </a:r>
            <a:r>
              <a:rPr lang="es-ES" dirty="0" err="1"/>
              <a:t>gRPC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227540057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Metadata/LabelInfo.xml><?xml version="1.0" encoding="utf-8"?>
<clbl:labelList xmlns:clbl="http://schemas.microsoft.com/office/2020/mipLabelMetadata">
  <clbl:label id="{6c04a875-6eb2-484b-a14b-e2519851b720}" enabled="1" method="Standard" siteId="{14cb4ab4-62b8-45a2-a944-e225383ee1f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</TotalTime>
  <Words>841</Words>
  <Application>Microsoft Office PowerPoint</Application>
  <PresentationFormat>Panorámica</PresentationFormat>
  <Paragraphs>117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Arial</vt:lpstr>
      <vt:lpstr>Century Gothic</vt:lpstr>
      <vt:lpstr>Wingdings 3</vt:lpstr>
      <vt:lpstr>Espiral</vt:lpstr>
      <vt:lpstr>Aseguramiento de Calidad</vt:lpstr>
      <vt:lpstr>Agenda</vt:lpstr>
      <vt:lpstr>¿Qué es USSD y por qué importa?</vt:lpstr>
      <vt:lpstr>Objetivo del reto</vt:lpstr>
      <vt:lpstr>Framework: Java + Karate + gRPC</vt:lpstr>
      <vt:lpstr>Piramide de pruebas</vt:lpstr>
      <vt:lpstr>Flujo del usuario (Happy Path)</vt:lpstr>
      <vt:lpstr>Reglas: llamada inicial</vt:lpstr>
      <vt:lpstr>Reglas: llamadas posteriores</vt:lpstr>
      <vt:lpstr>Integridad de sesion (riesgo 1)</vt:lpstr>
      <vt:lpstr>MSISDN inmutable (riesgo 2)</vt:lpstr>
      <vt:lpstr>Suite de pruebas automatizada</vt:lpstr>
      <vt:lpstr>Métricas y traducción a negocio</vt:lpstr>
      <vt:lpstr>Semáforo de calidad</vt:lpstr>
      <vt:lpstr>Hallazgos principales</vt:lpstr>
      <vt:lpstr>Recomendaciones priorizadas</vt:lpstr>
      <vt:lpstr>Como asegurar que el servicio escale</vt:lpstr>
      <vt:lpstr>Como ejecutar la suite</vt:lpstr>
      <vt:lpstr>Entregables del reto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Yamileidy Monne Clemente</dc:creator>
  <cp:lastModifiedBy>Yamileidy Monne Clemente</cp:lastModifiedBy>
  <cp:revision>4</cp:revision>
  <dcterms:created xsi:type="dcterms:W3CDTF">2026-06-02T17:47:34Z</dcterms:created>
  <dcterms:modified xsi:type="dcterms:W3CDTF">2026-06-02T17:56:18Z</dcterms:modified>
</cp:coreProperties>
</file>